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Old Standard TT" panose="020B0604020202020204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zTBJYyva6voAga9UMNsM55pZp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D3272C-4EC1-48B1-9D66-F9E4EAB39DC4}">
  <a:tblStyle styleId="{B7D3272C-4EC1-48B1-9D66-F9E4EAB39D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8206c35e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e8206c35ea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12" name="Google Shape;212;g3e8206c35ea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8206c35e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e8206c35e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8206c35ea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34" name="Google Shape;23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8206c35ea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8206c35ea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e8206c35ea_1_1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8206c35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3e8206c35e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e8206c35e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8206c35ea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8206c35ea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g3e8206c35ea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8206c35ea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g3e8206c35ea_1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3e8206c35ea_1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338625"/>
            <a:ext cx="7772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Improving Lecture Engagement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with Automatic Chapter Indexing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40080" y="3291840"/>
            <a:ext cx="2286000" cy="0"/>
          </a:xfrm>
          <a:prstGeom prst="straightConnector1">
            <a:avLst/>
          </a:prstGeom>
          <a:noFill/>
          <a:ln w="25400" cap="flat" cmpd="sng">
            <a:solidFill>
              <a:srgbClr val="E029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640080" y="347472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Samiksha Aveg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SID: 510574673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Bachelor of Engineering (Software) — Honours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Specialisation: Computer Engineering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Supervisor: Dr. Nicholas Tse</a:t>
            </a:r>
            <a:endParaRPr sz="11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2026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Why Automatic Chapter Indexing?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3358193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Key Challenges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3657299"/>
            <a:ext cx="8229600" cy="11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Manual chapter creation is labour-intensive and inconsistent across instructors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udents conditioned to 15-60s content struggle with 2-hour lectures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Text-only segmentation ignores visual slide transitions </a:t>
            </a:r>
            <a:endParaRPr sz="11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Fixed-length windows produce arbitrary, incoherent breaks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Existing tools lack multi-modal awareness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5" y="48418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138145" y="48418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80125" y="1954510"/>
            <a:ext cx="1874400" cy="1234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80125" y="1954510"/>
            <a:ext cx="1874400" cy="456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80125" y="2045950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8s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71565" y="2503150"/>
            <a:ext cx="1691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avg attention span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(down from 12s)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83245" y="1954510"/>
            <a:ext cx="1874400" cy="1234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583245" y="1954510"/>
            <a:ext cx="1874400" cy="456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583245" y="2045950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~50%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674685" y="2503150"/>
            <a:ext cx="1691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median engagement for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9-12 min videos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86365" y="1954510"/>
            <a:ext cx="1874400" cy="1234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686365" y="1954510"/>
            <a:ext cx="1874400" cy="456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686365" y="2045950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43%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77805" y="2503150"/>
            <a:ext cx="1691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of students use lectures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targeted section</a:t>
            </a: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89485" y="1954510"/>
            <a:ext cx="1874400" cy="12345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789485" y="1954510"/>
            <a:ext cx="1874400" cy="456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789485" y="2045950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30%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80925" y="2503150"/>
            <a:ext cx="1691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lower retention linked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 heavy short-video use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1325880"/>
            <a:ext cx="8229600" cy="5028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94360" y="1325880"/>
            <a:ext cx="7955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The TikTok Effect:  </a:t>
            </a:r>
            <a:r>
              <a:rPr lang="en-US" sz="10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Short-form video (TikTok, Reels, Shorts) has reshaped how students consume content — average attention spans dropped from 12s to 8s[Microsoft, 2015].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Research Objectives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508760"/>
            <a:ext cx="411480" cy="41148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51560" y="141732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Pre-process Lecture Video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51560" y="1610635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Extract audio via FFmpeg, transcribe with Whisper ASR (large-v3-turbo), produce word-level timestamped transcripts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2346890"/>
            <a:ext cx="411600" cy="41160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57200" y="234689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51560" y="2255450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Multi-Modal Boundary Detection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51560" y="2506903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Fuse textual and visual modalities: fixed tumbling-window baseline vs. sliding-window cosine-distance visual segmentation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3231470"/>
            <a:ext cx="411600" cy="41160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323147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51560" y="3140030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Chapter Labelling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51560" y="336317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Generate descriptive chapter titles and summaries using Qwen2.5-1.5B-Instruct with zero-shot JSON prompting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3996300"/>
            <a:ext cx="411600" cy="41160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57200" y="39963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51560" y="3904860"/>
            <a:ext cx="7498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Interactive Web Interface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51560" y="4133475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Locally-run Python Flask player with chapter timeline, keyboard navigation, and chapter search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03750" y="486280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076545" y="486280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Base Pipeline (Text-First)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1025" y="1543025"/>
            <a:ext cx="983100" cy="6858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1025" y="1543025"/>
            <a:ext cx="983100" cy="68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Audio Extraction</a:t>
            </a:r>
            <a:endParaRPr sz="10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(FFmpeg)</a:t>
            </a:r>
            <a:endParaRPr sz="1000"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24104" y="17030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340440" y="1565920"/>
            <a:ext cx="1371600" cy="6858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340440" y="1508670"/>
            <a:ext cx="1371600" cy="68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Whisper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 sz="100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(word-level timestamps)</a:t>
            </a:r>
            <a:endParaRPr sz="1000"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664015" y="17030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40675" y="1554475"/>
            <a:ext cx="1181400" cy="6858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279938" y="17030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964995" y="1531570"/>
            <a:ext cx="1371600" cy="6858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64995" y="1531570"/>
            <a:ext cx="1371600" cy="68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Transcript Slicing + </a:t>
            </a: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SBERT Embeddings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(all-Mini-L6-v2, </a:t>
            </a: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384-dim)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336595" y="166873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656635" y="1531570"/>
            <a:ext cx="1371600" cy="6858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656635" y="1515562"/>
            <a:ext cx="1371600" cy="68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Qwen-2.5-1</a:t>
            </a: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.5B-Instruct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Chapter Labelling (JSON)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251459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Limitations Identified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 chapters with boundaries splitting mid-sentence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Uniform 300-word window ignores visual cues entirely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chapters similar length (mean ~2 min) regardless of content complexity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Produces 40–58 chapters per 2-hour lecture — too granular for navigation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21025" y="4404035"/>
            <a:ext cx="8229600" cy="3657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12465" y="4404035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This motivates the Visual-focused pipeline where boundaries are driven by visual content changes.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96300" y="48418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113820" y="484185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 descr="/tmp/pptx_build/charts/chart_duration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7825" y="2323000"/>
            <a:ext cx="3545014" cy="251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2968801" y="1504475"/>
            <a:ext cx="1371600" cy="694200"/>
          </a:xfrm>
          <a:prstGeom prst="rect">
            <a:avLst/>
          </a:prstGeom>
          <a:solidFill>
            <a:srgbClr val="E0291D"/>
          </a:solidFill>
          <a:ln w="12050" cap="flat" cmpd="sng">
            <a:solidFill>
              <a:srgbClr val="E029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775" tIns="86775" rIns="86775" bIns="867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706" y="1550280"/>
            <a:ext cx="1128300" cy="69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2"/>
              <a:buFont typeface="Calibri"/>
              <a:buNone/>
            </a:pPr>
            <a:r>
              <a:rPr lang="en-US" sz="90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ResNet-18</a:t>
            </a:r>
            <a:endParaRPr sz="9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2"/>
              <a:buFont typeface="Calibri"/>
              <a:buNone/>
            </a:pPr>
            <a:r>
              <a:rPr lang="en-US" sz="902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(every 15s, </a:t>
            </a:r>
            <a:r>
              <a:rPr lang="en-US" sz="902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512-dim)</a:t>
            </a:r>
            <a:endParaRPr sz="9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722003" y="1637087"/>
            <a:ext cx="243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519"/>
              <a:buFont typeface="Calibri"/>
              <a:buNone/>
            </a:pPr>
            <a:r>
              <a:rPr lang="en-US" sz="1519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1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968805" y="150867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Tumbling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sz="1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(~300 words fixed chunks)</a:t>
            </a:r>
            <a:endParaRPr sz="1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Visual-Based Pipeline (Proposed)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28600" y="1417325"/>
            <a:ext cx="1083600" cy="7314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28600" y="1417325"/>
            <a:ext cx="1083600" cy="73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FFmpeg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Audio Extraction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305261" y="1508760"/>
            <a:ext cx="25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673352" y="1417320"/>
            <a:ext cx="1188720" cy="73152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581925" y="1417325"/>
            <a:ext cx="1472700" cy="73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Whisper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 sz="950"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1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(word-level timestamps)</a:t>
            </a:r>
            <a:endParaRPr sz="950"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075397" y="1485922"/>
            <a:ext cx="25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331429" y="1394483"/>
            <a:ext cx="1188600" cy="731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029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331492" y="1394545"/>
            <a:ext cx="1188600" cy="731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ResNet-18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(every 15s, </a:t>
            </a:r>
            <a:r>
              <a:rPr lang="en-US" sz="9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512-dim)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20149" y="1485922"/>
            <a:ext cx="25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776181" y="1394483"/>
            <a:ext cx="1188600" cy="731400"/>
          </a:xfrm>
          <a:prstGeom prst="rect">
            <a:avLst/>
          </a:prstGeom>
          <a:solidFill>
            <a:srgbClr val="E0291D"/>
          </a:solidFill>
          <a:ln w="12700" cap="flat" cmpd="sng">
            <a:solidFill>
              <a:srgbClr val="E029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776181" y="1394483"/>
            <a:ext cx="1188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Sliding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 sz="95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(W=60s, S=5s) &amp;</a:t>
            </a:r>
            <a:endParaRPr sz="95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distance peaks</a:t>
            </a:r>
            <a:endParaRPr sz="95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964901" y="1485922"/>
            <a:ext cx="25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220933" y="1394483"/>
            <a:ext cx="1188600" cy="7314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220933" y="1394483"/>
            <a:ext cx="1188600" cy="73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Transcript Slicing + </a:t>
            </a: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SBERT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(at visual breakpoints, </a:t>
            </a: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384-dim)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409653" y="1485922"/>
            <a:ext cx="25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665685" y="1394483"/>
            <a:ext cx="1188600" cy="731400"/>
          </a:xfrm>
          <a:prstGeom prst="rect">
            <a:avLst/>
          </a:prstGeom>
          <a:solidFill>
            <a:srgbClr val="F5F6F8"/>
          </a:solidFill>
          <a:ln w="12700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665685" y="1394483"/>
            <a:ext cx="1188600" cy="73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Qwen2.5-1.5B-Instruct</a:t>
            </a:r>
            <a:endParaRPr sz="950" b="1" i="0" u="none" strike="noStrike" cap="non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Chapter Labelling (JSON)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28600" y="2240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NEW: </a:t>
            </a:r>
            <a:r>
              <a:rPr lang="en-US" sz="900" i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Sliding Window replaced Tumbling Window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94450" y="2880360"/>
            <a:ext cx="256020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94450" y="2880360"/>
            <a:ext cx="2560200" cy="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31610" y="301752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Content-Driven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31610" y="3337560"/>
            <a:ext cx="2286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Boundaries emerge from visual discontinuities, not arbitrary word counts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329090" y="2880360"/>
            <a:ext cx="256020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329090" y="2880360"/>
            <a:ext cx="2560200" cy="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466250" y="301752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Variable Length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466250" y="3337560"/>
            <a:ext cx="2286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Chapters adapt to actual topic duration (7–20 min vs uniform 2 min)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63730" y="2880360"/>
            <a:ext cx="2560200" cy="13716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163730" y="2880360"/>
            <a:ext cx="2560200" cy="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300890" y="301752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Multi-Modal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300890" y="3337560"/>
            <a:ext cx="2286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Visual cues lead; transcript sliced at detected breakpoints for semantic fusion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28600" y="48418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28695" y="48418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7200" y="73152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Sliding Window Cosine-Distance Segmentation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Frame Sampling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14400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Extract frames every 15 seconds via OpenCV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14400" y="1965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914400" y="21945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ResNet-18 (fc removed) → 512-dim vector per frame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14400" y="25146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Sliding Window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14400" y="2743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 = 60s, S = 5s, 91.7% overlap; mean-pool features per window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310896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14400" y="3063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Cosine Distance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1440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Compute 1 − cos(wᵢ, wᵢ₊₁) between consecutive windows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14400" y="36118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Peak Detection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914400" y="3840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Gaussian smooth (σ = 2.0), prominence ≥ 0.01, min gap = 60s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4206240"/>
            <a:ext cx="320040" cy="320040"/>
          </a:xfrm>
          <a:prstGeom prst="ellipse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57200" y="42062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14400" y="41605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Boundary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14400" y="4389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Peak timestamps become chapter boundaries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754875" y="1417324"/>
            <a:ext cx="3931800" cy="25602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Parameters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937760" y="19659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FRAME_SAMPLE_RATE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223760" y="19659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15 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937760" y="221284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W_VIS (window width)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223760" y="221284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60 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937760" y="245973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S_VIS (window step)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7223760" y="245973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5 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937760" y="2706624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SMOOTH_SIGMA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223760" y="270662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937760" y="295351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PEAK_PROMINENCE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223760" y="295351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0.01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937760" y="3200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PEAK_MIN_DIST_S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223760" y="32004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60 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937760" y="344728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MIN_CHAPTER_WORDS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223760" y="344728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928427" y="367155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SBERT_MODEL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233128" y="3662227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E0291D"/>
                </a:solidFill>
                <a:latin typeface="Consolas"/>
                <a:ea typeface="Consolas"/>
                <a:cs typeface="Consolas"/>
                <a:sym typeface="Consolas"/>
              </a:rPr>
              <a:t>all-MiniLM-L6-v2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70850" y="48553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8113820" y="485538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6"/>
          <p:cNvPicPr preferRelativeResize="0"/>
          <p:nvPr/>
        </p:nvPicPr>
        <p:blipFill rotWithShape="1">
          <a:blip r:embed="rId3">
            <a:alphaModFix/>
          </a:blip>
          <a:srcRect t="9171" r="47182" b="15906"/>
          <a:stretch/>
        </p:blipFill>
        <p:spPr>
          <a:xfrm>
            <a:off x="4228100" y="1764513"/>
            <a:ext cx="4800123" cy="191163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 txBox="1"/>
          <p:nvPr/>
        </p:nvSpPr>
        <p:spPr>
          <a:xfrm>
            <a:off x="6264575" y="2276903"/>
            <a:ext cx="141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cosine dist-1</a:t>
            </a:r>
            <a:endParaRPr sz="1000"/>
          </a:p>
        </p:txBody>
      </p:sp>
      <p:sp>
        <p:nvSpPr>
          <p:cNvPr id="208" name="Google Shape;208;p6"/>
          <p:cNvSpPr txBox="1"/>
          <p:nvPr/>
        </p:nvSpPr>
        <p:spPr>
          <a:xfrm>
            <a:off x="6400975" y="2523803"/>
            <a:ext cx="141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cosine dist-2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8206c35ea_0_34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8206c35ea_0_34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e8206c35ea_0_34"/>
          <p:cNvPicPr preferRelativeResize="0"/>
          <p:nvPr/>
        </p:nvPicPr>
        <p:blipFill rotWithShape="1">
          <a:blip r:embed="rId3">
            <a:alphaModFix/>
          </a:blip>
          <a:srcRect t="32423" b="11141"/>
          <a:stretch/>
        </p:blipFill>
        <p:spPr>
          <a:xfrm>
            <a:off x="0" y="674837"/>
            <a:ext cx="9144003" cy="411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8206c35ea_0_91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e8206c35ea_0_91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8206c35ea_0_91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e8206c35ea_0_91"/>
          <p:cNvSpPr/>
          <p:nvPr/>
        </p:nvSpPr>
        <p:spPr>
          <a:xfrm>
            <a:off x="233550" y="486475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8206c35ea_0_91"/>
          <p:cNvSpPr/>
          <p:nvPr/>
        </p:nvSpPr>
        <p:spPr>
          <a:xfrm>
            <a:off x="8143645" y="484180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g3e8206c35ea_0_91"/>
          <p:cNvGrpSpPr/>
          <p:nvPr/>
        </p:nvGrpSpPr>
        <p:grpSpPr>
          <a:xfrm>
            <a:off x="476543" y="1352705"/>
            <a:ext cx="8190913" cy="3439560"/>
            <a:chOff x="641125" y="1152182"/>
            <a:chExt cx="7680901" cy="3225393"/>
          </a:xfrm>
        </p:grpSpPr>
        <p:pic>
          <p:nvPicPr>
            <p:cNvPr id="228" name="Google Shape;228;g3e8206c35ea_0_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1125" y="1152182"/>
              <a:ext cx="7680901" cy="3225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g3e8206c35ea_0_91"/>
            <p:cNvSpPr/>
            <p:nvPr/>
          </p:nvSpPr>
          <p:spPr>
            <a:xfrm>
              <a:off x="3895675" y="1186575"/>
              <a:ext cx="394500" cy="112800"/>
            </a:xfrm>
            <a:prstGeom prst="rect">
              <a:avLst/>
            </a:prstGeom>
            <a:solidFill>
              <a:srgbClr val="FFFFFF"/>
            </a:solidFill>
            <a:ln w="101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500" tIns="97500" rIns="97500" bIns="97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93"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sp>
        <p:nvSpPr>
          <p:cNvPr id="230" name="Google Shape;230;g3e8206c35ea_0_91"/>
          <p:cNvSpPr/>
          <p:nvPr/>
        </p:nvSpPr>
        <p:spPr>
          <a:xfrm>
            <a:off x="457200" y="7315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Text-First vs Visual-First: Boundary Quality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Multi-Modal Features and LLM Labelling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57263" y="1622995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 Features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178308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SBERT all-MiniLM-L6-v2 → 384-dim text embeddings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ResNet-18 (ImageNet) → 512-dim visual features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Combined: 896-dim multi-modal feature vector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KeyBERT keyword extraction per chapter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 range, duration, word count metadata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754880" y="1485895"/>
            <a:ext cx="3931800" cy="2011800"/>
          </a:xfrm>
          <a:prstGeom prst="rect">
            <a:avLst/>
          </a:prstGeom>
          <a:solidFill>
            <a:srgbClr val="0B1120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937760" y="1577335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Qwen2.5-1.5B-Instruct [5]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937760" y="1943095"/>
            <a:ext cx="3566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Zero-shot JSON generation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Temperature = 0.1 (near-deterministic)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5–8 word descriptive chapter titles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1–2 sentence technical summaries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Regex JSON extraction + 3-retry loop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Char char="•"/>
            </a:pPr>
            <a:r>
              <a:rPr lang="en-US" sz="9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Key/skip binary classification per chapter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6F8"/>
          </a:solidFill>
          <a:ln w="9525" cap="flat" cmpd="sng">
            <a:solidFill>
              <a:srgbClr val="E2E5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LLM Prompt Template</a:t>
            </a:r>
            <a:r>
              <a:rPr lang="en-US" sz="900" b="1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Generate a chapter summary JSON for this lecture segment.</a:t>
            </a:r>
            <a:endParaRPr sz="8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Time Range: {start_time} to {end_time}  |  Duration: {dur}s  |  Word Count: {word_count}</a:t>
            </a:r>
            <a:endParaRPr sz="8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Requirements: chapter (5-8 word title), description (1-2 sentence summary, &lt;50 words)</a:t>
            </a:r>
            <a:endParaRPr sz="8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Output ONLY valid JSON. No markdown. No explanation.</a:t>
            </a:r>
            <a:endParaRPr sz="800" b="1" i="0" u="none" strike="noStrike" cap="non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48475" y="482340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098895" y="482340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45999" y="724063"/>
            <a:ext cx="3801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7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Flask Web Interface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47574" y="1311025"/>
            <a:ext cx="3801000" cy="6858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47574" y="1311025"/>
            <a:ext cx="25200" cy="6858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553157" y="1356745"/>
            <a:ext cx="3589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HTML5 Video Player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53157" y="1631065"/>
            <a:ext cx="3589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SVG chapter timeline with colour-coded segments </a:t>
            </a:r>
            <a:endParaRPr sz="10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(key =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accent, skip = dimmed)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47574" y="2134000"/>
            <a:ext cx="3589800" cy="6858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47574" y="2134000"/>
            <a:ext cx="24000" cy="6858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47293" y="2179720"/>
            <a:ext cx="339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Background Processing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7293" y="2454040"/>
            <a:ext cx="339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Non-blocking 6-step pipeline via Python threading; </a:t>
            </a:r>
            <a:endParaRPr sz="10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real-time progress logs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57200" y="2979825"/>
            <a:ext cx="3589800" cy="6858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57200" y="2979825"/>
            <a:ext cx="23700" cy="6858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556923" y="3025545"/>
            <a:ext cx="339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Keyboard Navigation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56923" y="3299865"/>
            <a:ext cx="3390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Arrow keys for chapter-to-chapter jumping; </a:t>
            </a:r>
            <a:endParaRPr sz="10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search bar for keyword lookup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55003" y="3779925"/>
            <a:ext cx="3801000" cy="6858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55003" y="3779925"/>
            <a:ext cx="25200" cy="6858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60590" y="3825645"/>
            <a:ext cx="3589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Video Library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60590" y="4099965"/>
            <a:ext cx="3589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Drag-and-drop upload; previously processed lectures auto-detected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60600" y="4328575"/>
            <a:ext cx="28455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Built with Flask, Jinja2 templating, vanilla JS frontend with dark/light theme toggle.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11200" y="48544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113795" y="48418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9" title="Untitled design (3).gif"/>
          <p:cNvPicPr preferRelativeResize="0"/>
          <p:nvPr/>
        </p:nvPicPr>
        <p:blipFill rotWithShape="1">
          <a:blip r:embed="rId3">
            <a:alphaModFix/>
          </a:blip>
          <a:srcRect l="17783" t="3512"/>
          <a:stretch/>
        </p:blipFill>
        <p:spPr>
          <a:xfrm>
            <a:off x="4090325" y="640075"/>
            <a:ext cx="4998301" cy="4143648"/>
          </a:xfrm>
          <a:prstGeom prst="rect">
            <a:avLst/>
          </a:prstGeom>
          <a:noFill/>
          <a:ln w="9525" cap="flat" cmpd="sng">
            <a:solidFill>
              <a:srgbClr val="00695C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Key Results: LLM Model Comparison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10"/>
          <p:cNvGraphicFramePr/>
          <p:nvPr/>
        </p:nvGraphicFramePr>
        <p:xfrm>
          <a:off x="226425" y="1442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{B7D3272C-4EC1-48B1-9D66-F9E4EAB39DC4}</a:tableStyleId>
              </a:tblPr>
              <a:tblGrid>
                <a:gridCol w="100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tok/s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(MB)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Qwen1.5-0.5B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0.5B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✗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1.6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2,471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Qwen1.5-1.8B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1.8B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2.3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3,261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Qwen2-0.5B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0.5B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✗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3.8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Qwen2-1.5B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1.5B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2.3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3,743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Qwen2.5-0.5B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0.5B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6.6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182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Qwen2.5-1.5B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1.5B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2.2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155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Qwen2.5-3B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3.0B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0.6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766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Qwen3-1.7B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1.7B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05966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✓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0.4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9" name="Google Shape;289;p10"/>
          <p:cNvSpPr/>
          <p:nvPr/>
        </p:nvSpPr>
        <p:spPr>
          <a:xfrm>
            <a:off x="457200" y="4295690"/>
            <a:ext cx="8229600" cy="5028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94360" y="4295640"/>
            <a:ext cx="7955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Best overall: Qwen2.5-1.5B-Instruct</a:t>
            </a: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Reliable JSON, descriptive titles, 16.3s/chapter on CPU, lowest RAM (155 MB delta).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14300" y="48418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113795" y="484185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650" y="1432550"/>
            <a:ext cx="4683949" cy="25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Key Results: Quality Benchmarks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57200" y="1463040"/>
            <a:ext cx="502920" cy="36576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457200" y="14630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097280" y="14173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Key/Skip Ratio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97280" y="1645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key / total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108960" y="14173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&gt; 0.68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480560" y="14173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Most chapters are substantive content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57200" y="2011680"/>
            <a:ext cx="502920" cy="36576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57200" y="201168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097280" y="1965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Duration CV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097280" y="21945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σ / μ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108960" y="196596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0.58–1.64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480560" y="19659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Variable-length = content-driven (higher = better)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57200" y="2560320"/>
            <a:ext cx="502920" cy="36576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57200" y="25603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097280" y="2514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Short-Chapter Penalty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097280" y="274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(&lt;2min) / total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108960" y="25146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≈ 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480560" y="25146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Near zero for visual pipeline (vs high for tumbling)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57200" y="3108960"/>
            <a:ext cx="502920" cy="36576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57200" y="310896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097280" y="30632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Title Uniqueness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097280" y="32918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|set(titles)| / 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3108960" y="30632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&gt; 0.80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480560" y="30632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Distinct, non-repetitive chapter titles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7200" y="3657600"/>
            <a:ext cx="502920" cy="36576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457200" y="3657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097280" y="3611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Title Word Count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097280" y="38404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mean(words)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108960" y="3611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2–3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480560" y="361188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Concise, descriptive titles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231650" y="4244320"/>
            <a:ext cx="731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E0291D"/>
                </a:solidFill>
                <a:latin typeface="Georgia"/>
                <a:ea typeface="Georgia"/>
                <a:cs typeface="Georgia"/>
                <a:sym typeface="Georgia"/>
              </a:rPr>
              <a:t>79%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017131" y="4244325"/>
            <a:ext cx="2628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boundary-topic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alignment (manual annotation in Week 1 lect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ure</a:t>
            </a:r>
            <a:r>
              <a:rPr lang="en-US" sz="95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59025" y="48463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8121245" y="484635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3e8206c35ea_1_145"/>
          <p:cNvPicPr preferRelativeResize="0"/>
          <p:nvPr/>
        </p:nvPicPr>
        <p:blipFill rotWithShape="1">
          <a:blip r:embed="rId3">
            <a:alphaModFix/>
          </a:blip>
          <a:srcRect r="64377" b="93356"/>
          <a:stretch/>
        </p:blipFill>
        <p:spPr>
          <a:xfrm>
            <a:off x="182800" y="151300"/>
            <a:ext cx="1670851" cy="3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e8206c35ea_1_145"/>
          <p:cNvSpPr/>
          <p:nvPr/>
        </p:nvSpPr>
        <p:spPr>
          <a:xfrm>
            <a:off x="295075" y="68084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User Study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g3e8206c35ea_1_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400" y="1696076"/>
            <a:ext cx="4892526" cy="24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e8206c35ea_1_145"/>
          <p:cNvPicPr preferRelativeResize="0"/>
          <p:nvPr/>
        </p:nvPicPr>
        <p:blipFill rotWithShape="1">
          <a:blip r:embed="rId5">
            <a:alphaModFix/>
          </a:blip>
          <a:srcRect r="14610"/>
          <a:stretch/>
        </p:blipFill>
        <p:spPr>
          <a:xfrm>
            <a:off x="101350" y="1316950"/>
            <a:ext cx="4052500" cy="330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457200" y="1417320"/>
            <a:ext cx="54864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Processing time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dominant bottlenecks are Whisper transcription and LLM inference.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Single course Evaluation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40080" y="2880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Only COMP2017 lectures were tested plus other STEM lecture recordings during user survey.</a:t>
            </a:r>
            <a:endParaRPr sz="10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endParaRPr sz="10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2447500" y="3634743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2447500" y="3634743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2630380" y="3726182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Empirical parameter selection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2630380" y="4000503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Parameters tuned manually tuned, proper parameter search over a labelled multi‑course dataset is required to establish optimal, generalisable values.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754880" y="1417320"/>
            <a:ext cx="39319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4754880" y="1417320"/>
            <a:ext cx="54864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Absence of ground-truth annotations from Lecturer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937760" y="1783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lack of human-labelled chapter boundary annotations to help quantify chapter boundary quality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754880" y="2514600"/>
            <a:ext cx="393192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754880" y="2514600"/>
            <a:ext cx="54864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Restricted hardware profile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937760" y="28803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CPU-based pipeline only; need testing with GPU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226125" y="484635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8106345" y="484638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8206c35ea_0_0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e8206c35ea_0_0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e8206c35ea_0_0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OUTLOOK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8206c35ea_0_0"/>
          <p:cNvSpPr/>
          <p:nvPr/>
        </p:nvSpPr>
        <p:spPr>
          <a:xfrm>
            <a:off x="457200" y="7315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Future Outlook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8206c35ea_0_0"/>
          <p:cNvSpPr/>
          <p:nvPr/>
        </p:nvSpPr>
        <p:spPr>
          <a:xfrm>
            <a:off x="457200" y="141732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e8206c35ea_0_0"/>
          <p:cNvSpPr/>
          <p:nvPr/>
        </p:nvSpPr>
        <p:spPr>
          <a:xfrm>
            <a:off x="457200" y="141732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3e8206c35ea_0_0"/>
          <p:cNvSpPr/>
          <p:nvPr/>
        </p:nvSpPr>
        <p:spPr>
          <a:xfrm>
            <a:off x="640080" y="150876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 Study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8206c35ea_0_0"/>
          <p:cNvSpPr/>
          <p:nvPr/>
        </p:nvSpPr>
        <p:spPr>
          <a:xfrm>
            <a:off x="640080" y="178308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Evaluate navigation efficiency and student satisfaction with auto-generated chapters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8206c35ea_0_0"/>
          <p:cNvSpPr/>
          <p:nvPr/>
        </p:nvSpPr>
        <p:spPr>
          <a:xfrm>
            <a:off x="457200" y="251460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e8206c35ea_0_0"/>
          <p:cNvSpPr/>
          <p:nvPr/>
        </p:nvSpPr>
        <p:spPr>
          <a:xfrm>
            <a:off x="457200" y="251460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e8206c35ea_0_0"/>
          <p:cNvSpPr/>
          <p:nvPr/>
        </p:nvSpPr>
        <p:spPr>
          <a:xfrm>
            <a:off x="640080" y="26060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Cross-Subject Testing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8206c35ea_0_0"/>
          <p:cNvSpPr/>
          <p:nvPr/>
        </p:nvSpPr>
        <p:spPr>
          <a:xfrm>
            <a:off x="640080" y="288036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Validate pipeline on lectures from diverse disciplines beyond Systems Programming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8206c35ea_0_0"/>
          <p:cNvSpPr/>
          <p:nvPr/>
        </p:nvSpPr>
        <p:spPr>
          <a:xfrm>
            <a:off x="457200" y="361188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e8206c35ea_0_0"/>
          <p:cNvSpPr/>
          <p:nvPr/>
        </p:nvSpPr>
        <p:spPr>
          <a:xfrm>
            <a:off x="457200" y="361188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e8206c35ea_0_0"/>
          <p:cNvSpPr/>
          <p:nvPr/>
        </p:nvSpPr>
        <p:spPr>
          <a:xfrm>
            <a:off x="640080" y="370332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LMS Integration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8206c35ea_0_0"/>
          <p:cNvSpPr/>
          <p:nvPr/>
        </p:nvSpPr>
        <p:spPr>
          <a:xfrm>
            <a:off x="640080" y="397764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Deploy within Echo360 and Canvas for institutional adoption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e8206c35ea_0_0"/>
          <p:cNvSpPr/>
          <p:nvPr/>
        </p:nvSpPr>
        <p:spPr>
          <a:xfrm>
            <a:off x="4754880" y="141732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e8206c35ea_0_0"/>
          <p:cNvSpPr/>
          <p:nvPr/>
        </p:nvSpPr>
        <p:spPr>
          <a:xfrm>
            <a:off x="4754880" y="141732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e8206c35ea_0_0"/>
          <p:cNvSpPr/>
          <p:nvPr/>
        </p:nvSpPr>
        <p:spPr>
          <a:xfrm>
            <a:off x="4937760" y="150876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Relevance Feedback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8206c35ea_0_0"/>
          <p:cNvSpPr/>
          <p:nvPr/>
        </p:nvSpPr>
        <p:spPr>
          <a:xfrm>
            <a:off x="4937760" y="178308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Combine with student-driven feedback system to refine key/skip 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8206c35ea_0_0"/>
          <p:cNvSpPr/>
          <p:nvPr/>
        </p:nvSpPr>
        <p:spPr>
          <a:xfrm>
            <a:off x="4754880" y="251460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e8206c35ea_0_0"/>
          <p:cNvSpPr/>
          <p:nvPr/>
        </p:nvSpPr>
        <p:spPr>
          <a:xfrm>
            <a:off x="4754880" y="251460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e8206c35ea_0_0"/>
          <p:cNvSpPr/>
          <p:nvPr/>
        </p:nvSpPr>
        <p:spPr>
          <a:xfrm>
            <a:off x="4937760" y="26060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Short-Form Reels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8206c35ea_0_0"/>
          <p:cNvSpPr/>
          <p:nvPr/>
        </p:nvSpPr>
        <p:spPr>
          <a:xfrm>
            <a:off x="4937760" y="288036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Generate bite-sized learning clips from segmented chapters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8206c35ea_0_0"/>
          <p:cNvSpPr/>
          <p:nvPr/>
        </p:nvSpPr>
        <p:spPr>
          <a:xfrm>
            <a:off x="4754880" y="3611880"/>
            <a:ext cx="3931800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>
            <a:outerShdw blurRad="508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e8206c35ea_0_0"/>
          <p:cNvSpPr/>
          <p:nvPr/>
        </p:nvSpPr>
        <p:spPr>
          <a:xfrm>
            <a:off x="4754880" y="3611880"/>
            <a:ext cx="54900" cy="9144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e8206c35ea_0_0"/>
          <p:cNvSpPr/>
          <p:nvPr/>
        </p:nvSpPr>
        <p:spPr>
          <a:xfrm>
            <a:off x="4937760" y="370332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Multi-Lingual Support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8206c35ea_0_0"/>
          <p:cNvSpPr/>
          <p:nvPr/>
        </p:nvSpPr>
        <p:spPr>
          <a:xfrm>
            <a:off x="4937760" y="397764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Extend Whisper and LLM pipeline to support non-English lecture content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8206c35ea_0_0"/>
          <p:cNvSpPr/>
          <p:nvPr/>
        </p:nvSpPr>
        <p:spPr>
          <a:xfrm>
            <a:off x="188825" y="484635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8206c35ea_0_0"/>
          <p:cNvSpPr/>
          <p:nvPr/>
        </p:nvSpPr>
        <p:spPr>
          <a:xfrm>
            <a:off x="8151070" y="484635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96125" y="1126450"/>
            <a:ext cx="8046600" cy="3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[1] A. Radford et al., Robust Speech Recognition via Large-Scale Weak Supervision, Proc. ICML, 2023.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[2] M. A. Hearst, TextTiling: Segmenting Text into Multi-paragraph Subtopic Passages, Comp. Linguistics, 1997.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[3] K. He et al., Deep Residual Learning for Image Recognition, Proc. IEEE CVPR, 2016.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[4] N. Reimers and I. Gurevych, Sentence-BERT: Siamese BERT-Networks, EMNLP-IJCNLP, 2019.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[5] A. Yang et al., Qwen2.5 Technical Report, arXiv:2412.15115, 2024.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[6] A. Vaswani et al., Attention Is All You Need, NeurIPS, 2017.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[7] J. Devlin et al., BERT: Pre-training of Deep Bidirectional Transformers, NAACL-HLT, 2019.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[8] Pallets Projects, Flask: A Python Micro Web Framework, 2010.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[9] P. Virtanen et al., SciPy 1.0: Fundamental Algorithms for Scientific Computing, Nature Methods, 2020.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[10] J. Deng et al., ImageNet: A Large-Scale Hierarchical Image Database, IEEE CVPR, 2009.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[11] L. M. Lim, Why Students Use (and Do Not Use) Recorded Lectures, Proc. ASCILITE, 2019.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[12] Microsoft Canada, Attention Spans: Consumer Insights, Microsoft, 2015.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[13] S. Alfatih et al., Influence of TikTok Short-Form Videos on Attention Span, EDUTECH, 2024.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[14] IJSR, Impact of Short Videos on Attention Span and Academic Performance, IJSR, 2024.</a:t>
            </a: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endParaRPr sz="8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"/>
          <p:cNvSpPr/>
          <p:nvPr/>
        </p:nvSpPr>
        <p:spPr>
          <a:xfrm>
            <a:off x="457200" y="365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5" name="Google Shape;475;p7"/>
          <p:cNvGraphicFramePr/>
          <p:nvPr/>
        </p:nvGraphicFramePr>
        <p:xfrm>
          <a:off x="457200" y="992420"/>
          <a:ext cx="8229600" cy="3291900"/>
        </p:xfrm>
        <a:graphic>
          <a:graphicData uri="http://schemas.openxmlformats.org/drawingml/2006/table">
            <a:tbl>
              <a:tblPr>
                <a:noFill/>
                <a:tableStyleId>{B7D3272C-4EC1-48B1-9D66-F9E4EAB39DC4}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Tumbling Window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Sliding Window (Visual)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Chapter Count (Wk 01)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55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Chapter Count (Wk 03)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Chapter Count (Wk 08)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Chapter Count (Wk 13)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Duration (Wk 01)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2.1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4.6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Duration (Wk 03)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2.9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3.4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Duration (Wk 08)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4.6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4.0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Duration (Wk 13)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4.4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5.5 min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Chapter % (Wk 01)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81.8%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68.0%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Chapter % (Wk 03)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92.5%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84.8%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Chapter % (Wk 13)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1A1A2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80.8%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291D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E0291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95.2%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5E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6" name="Google Shape;476;p7"/>
          <p:cNvSpPr/>
          <p:nvPr/>
        </p:nvSpPr>
        <p:spPr>
          <a:xfrm>
            <a:off x="457200" y="4425918"/>
            <a:ext cx="82296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7"/>
          <p:cNvSpPr/>
          <p:nvPr/>
        </p:nvSpPr>
        <p:spPr>
          <a:xfrm>
            <a:off x="548640" y="442591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291D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E0291D"/>
                </a:solidFill>
                <a:latin typeface="Calibri"/>
                <a:ea typeface="Calibri"/>
                <a:cs typeface="Calibri"/>
                <a:sym typeface="Calibri"/>
              </a:rPr>
              <a:t>Visual-first reduces chapter fragmentation and produces content-driven segments aligned to actual topic transitions.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7"/>
          <p:cNvSpPr/>
          <p:nvPr/>
        </p:nvSpPr>
        <p:spPr>
          <a:xfrm>
            <a:off x="345400" y="484183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8180895" y="48418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8206c35ea_1_52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3e8206c35ea_1_52"/>
          <p:cNvSpPr/>
          <p:nvPr/>
        </p:nvSpPr>
        <p:spPr>
          <a:xfrm>
            <a:off x="366263" y="189000"/>
            <a:ext cx="1308300" cy="279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3e8206c35ea_1_52"/>
          <p:cNvSpPr/>
          <p:nvPr/>
        </p:nvSpPr>
        <p:spPr>
          <a:xfrm>
            <a:off x="366263" y="189000"/>
            <a:ext cx="13083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Calibri"/>
              <a:buNone/>
            </a:pPr>
            <a:r>
              <a:rPr lang="en-US" sz="81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81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e8206c35ea_1_52"/>
          <p:cNvSpPr/>
          <p:nvPr/>
        </p:nvSpPr>
        <p:spPr>
          <a:xfrm>
            <a:off x="366263" y="562842"/>
            <a:ext cx="8411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62"/>
              <a:buFont typeface="Georgia"/>
              <a:buNone/>
            </a:pPr>
            <a:r>
              <a:rPr lang="en-US" sz="2862" b="1" i="0" u="none" strike="noStrike" cap="non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Why These Benchmarks?</a:t>
            </a:r>
            <a:endParaRPr sz="286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8206c35ea_1_52"/>
          <p:cNvSpPr/>
          <p:nvPr/>
        </p:nvSpPr>
        <p:spPr>
          <a:xfrm>
            <a:off x="366263" y="1170335"/>
            <a:ext cx="84114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24"/>
              <a:buFont typeface="Calibri"/>
              <a:buNone/>
            </a:pPr>
            <a:r>
              <a:rPr lang="en-US" sz="1124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Lecture chaptering has no standard ground-truth corpus. These six benchmarks provide automated, reproducible quality signals without manual annotation:</a:t>
            </a:r>
            <a:endParaRPr sz="112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8206c35ea_1_52"/>
          <p:cNvSpPr/>
          <p:nvPr/>
        </p:nvSpPr>
        <p:spPr>
          <a:xfrm>
            <a:off x="366263" y="1759136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g3e8206c35ea_1_52"/>
          <p:cNvSpPr/>
          <p:nvPr/>
        </p:nvSpPr>
        <p:spPr>
          <a:xfrm>
            <a:off x="366263" y="1759136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e8206c35ea_1_52"/>
          <p:cNvSpPr/>
          <p:nvPr/>
        </p:nvSpPr>
        <p:spPr>
          <a:xfrm>
            <a:off x="927031" y="1731098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Key/Skip Ratio: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Measures content density: a useful index should surface mostly substantive material, not administrative filler. A ratio below 0.5 would indicate most chapters are non-educational.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e8206c35ea_1_52"/>
          <p:cNvSpPr/>
          <p:nvPr/>
        </p:nvSpPr>
        <p:spPr>
          <a:xfrm>
            <a:off x="366263" y="2273169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3e8206c35ea_1_52"/>
          <p:cNvSpPr/>
          <p:nvPr/>
        </p:nvSpPr>
        <p:spPr>
          <a:xfrm>
            <a:off x="366263" y="2273169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e8206c35ea_1_52"/>
          <p:cNvSpPr/>
          <p:nvPr/>
        </p:nvSpPr>
        <p:spPr>
          <a:xfrm>
            <a:off x="927031" y="2245131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Duration CV: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Quantifies whether chapters are variable-length (content-driven) or uniform (arbitrary). Higher CV means the pipeline adapts to topic length rather than imposing a fixed window.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e8206c35ea_1_52"/>
          <p:cNvSpPr/>
          <p:nvPr/>
        </p:nvSpPr>
        <p:spPr>
          <a:xfrm>
            <a:off x="366263" y="2787201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3e8206c35ea_1_52"/>
          <p:cNvSpPr/>
          <p:nvPr/>
        </p:nvSpPr>
        <p:spPr>
          <a:xfrm>
            <a:off x="366263" y="2787201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e8206c35ea_1_52"/>
          <p:cNvSpPr/>
          <p:nvPr/>
        </p:nvSpPr>
        <p:spPr>
          <a:xfrm>
            <a:off x="927031" y="2759163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Short-Chapter Penalty: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Chapters under 2 minutes are too fragmented for meaningful navigation. This penalises over-segmentation, the primary failure mode of tumbling-window approaches.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e8206c35ea_1_52"/>
          <p:cNvSpPr/>
          <p:nvPr/>
        </p:nvSpPr>
        <p:spPr>
          <a:xfrm>
            <a:off x="366263" y="3301234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3e8206c35ea_1_52"/>
          <p:cNvSpPr/>
          <p:nvPr/>
        </p:nvSpPr>
        <p:spPr>
          <a:xfrm>
            <a:off x="366263" y="3301234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e8206c35ea_1_52"/>
          <p:cNvSpPr/>
          <p:nvPr/>
        </p:nvSpPr>
        <p:spPr>
          <a:xfrm>
            <a:off x="927031" y="3273196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Title Uniqueness: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Catches degenerate LLM output where the model repeats the same generic title. A ratio near 1.0 confirms distinct, informative labels per chapter.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e8206c35ea_1_52"/>
          <p:cNvSpPr/>
          <p:nvPr/>
        </p:nvSpPr>
        <p:spPr>
          <a:xfrm>
            <a:off x="366263" y="3815267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3e8206c35ea_1_52"/>
          <p:cNvSpPr/>
          <p:nvPr/>
        </p:nvSpPr>
        <p:spPr>
          <a:xfrm>
            <a:off x="366263" y="3815267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B5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e8206c35ea_1_52"/>
          <p:cNvSpPr/>
          <p:nvPr/>
        </p:nvSpPr>
        <p:spPr>
          <a:xfrm>
            <a:off x="927031" y="3787228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Title Word Count: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Validates the LLM follows the 5–8 word constraint, producing scannable titles rather than full sentences or single-word labels.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e8206c35ea_1_52"/>
          <p:cNvSpPr/>
          <p:nvPr/>
        </p:nvSpPr>
        <p:spPr>
          <a:xfrm>
            <a:off x="366263" y="4329299"/>
            <a:ext cx="420600" cy="3549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3450" tIns="93450" rIns="93450" bIns="93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e8206c35ea_1_52"/>
          <p:cNvSpPr/>
          <p:nvPr/>
        </p:nvSpPr>
        <p:spPr>
          <a:xfrm>
            <a:off x="366263" y="4329299"/>
            <a:ext cx="4206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1"/>
              <a:buFont typeface="Calibri"/>
              <a:buNone/>
            </a:pPr>
            <a:r>
              <a:rPr lang="en-US" sz="971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B6</a:t>
            </a:r>
            <a:endParaRPr sz="97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8206c35ea_1_52"/>
          <p:cNvSpPr/>
          <p:nvPr/>
        </p:nvSpPr>
        <p:spPr>
          <a:xfrm>
            <a:off x="927031" y="4301261"/>
            <a:ext cx="7850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73"/>
              <a:buFont typeface="Calibri"/>
              <a:buNone/>
            </a:pPr>
            <a:r>
              <a:rPr lang="en-US" sz="1073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Keyword Diversity:  </a:t>
            </a:r>
            <a:r>
              <a:rPr lang="en-US" sz="971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Confirms the segmentation captures distinct topics. Low diversity would indicate redundant chapters covering the same vocabulary.</a:t>
            </a:r>
            <a:endParaRPr sz="10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8206c35ea_1_52"/>
          <p:cNvSpPr/>
          <p:nvPr/>
        </p:nvSpPr>
        <p:spPr>
          <a:xfrm>
            <a:off x="175950" y="1669947"/>
            <a:ext cx="8792100" cy="291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7675" tIns="97675" rIns="97675" bIns="97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e8206c35ea_1_52"/>
          <p:cNvSpPr/>
          <p:nvPr/>
        </p:nvSpPr>
        <p:spPr>
          <a:xfrm>
            <a:off x="0" y="4801637"/>
            <a:ext cx="58614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675" tIns="48825" rIns="97675" bIns="488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5"/>
              <a:buFont typeface="Calibri"/>
              <a:buNone/>
            </a:pPr>
            <a:r>
              <a:rPr lang="en-US" sz="855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8206c35ea_1_52"/>
          <p:cNvSpPr/>
          <p:nvPr/>
        </p:nvSpPr>
        <p:spPr>
          <a:xfrm>
            <a:off x="8108174" y="4801637"/>
            <a:ext cx="976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675" tIns="48825" rIns="97675" bIns="488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62"/>
              <a:buFont typeface="Calibri"/>
              <a:buNone/>
            </a:pPr>
            <a:r>
              <a:rPr lang="en-US" sz="962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11b / 14</a:t>
            </a:r>
            <a:endParaRPr sz="96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8206c35ea_1_108"/>
          <p:cNvSpPr/>
          <p:nvPr/>
        </p:nvSpPr>
        <p:spPr>
          <a:xfrm>
            <a:off x="0" y="4864750"/>
            <a:ext cx="9144000" cy="274200"/>
          </a:xfrm>
          <a:prstGeom prst="rect">
            <a:avLst/>
          </a:prstGeom>
          <a:solidFill>
            <a:srgbClr val="FDE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3e8206c35ea_1_108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e8206c35ea_1_108"/>
          <p:cNvSpPr/>
          <p:nvPr/>
        </p:nvSpPr>
        <p:spPr>
          <a:xfrm>
            <a:off x="457200" y="36576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e8206c35ea_1_108"/>
          <p:cNvSpPr/>
          <p:nvPr/>
        </p:nvSpPr>
        <p:spPr>
          <a:xfrm>
            <a:off x="457200" y="7315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Georgia"/>
              <a:buNone/>
            </a:pPr>
            <a:r>
              <a:rPr lang="en-US" sz="2800" b="1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User Study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e8206c35ea_1_108"/>
          <p:cNvSpPr/>
          <p:nvPr/>
        </p:nvSpPr>
        <p:spPr>
          <a:xfrm>
            <a:off x="226125" y="484635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USYD  |  School of Computer and Electrical Engineering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e8206c35ea_1_108"/>
          <p:cNvSpPr/>
          <p:nvPr/>
        </p:nvSpPr>
        <p:spPr>
          <a:xfrm>
            <a:off x="8106345" y="484638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g3e8206c35ea_1_108"/>
          <p:cNvPicPr preferRelativeResize="0"/>
          <p:nvPr/>
        </p:nvPicPr>
        <p:blipFill rotWithShape="1">
          <a:blip r:embed="rId3">
            <a:alphaModFix/>
          </a:blip>
          <a:srcRect b="12265"/>
          <a:stretch/>
        </p:blipFill>
        <p:spPr>
          <a:xfrm>
            <a:off x="457200" y="1371812"/>
            <a:ext cx="3708551" cy="20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3e8206c35ea_1_108"/>
          <p:cNvPicPr preferRelativeResize="0"/>
          <p:nvPr/>
        </p:nvPicPr>
        <p:blipFill rotWithShape="1">
          <a:blip r:embed="rId4">
            <a:alphaModFix/>
          </a:blip>
          <a:srcRect l="4548" r="5028" b="14668"/>
          <a:stretch/>
        </p:blipFill>
        <p:spPr>
          <a:xfrm>
            <a:off x="4373984" y="1450159"/>
            <a:ext cx="4389124" cy="137868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e8206c35ea_1_108"/>
          <p:cNvSpPr/>
          <p:nvPr/>
        </p:nvSpPr>
        <p:spPr>
          <a:xfrm>
            <a:off x="4844288" y="3880347"/>
            <a:ext cx="3448500" cy="74100"/>
          </a:xfrm>
          <a:prstGeom prst="rect">
            <a:avLst/>
          </a:prstGeom>
          <a:solidFill>
            <a:srgbClr val="E0291D"/>
          </a:solidFill>
          <a:ln>
            <a:noFill/>
          </a:ln>
        </p:spPr>
        <p:txBody>
          <a:bodyPr spcFirstLastPara="1" wrap="square" lIns="123150" tIns="123150" rIns="123150" bIns="123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e8206c35ea_1_108"/>
          <p:cNvSpPr/>
          <p:nvPr/>
        </p:nvSpPr>
        <p:spPr>
          <a:xfrm>
            <a:off x="4924833" y="3675430"/>
            <a:ext cx="30792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47"/>
              <a:buFont typeface="Calibri"/>
              <a:buNone/>
            </a:pPr>
            <a:r>
              <a:rPr lang="en-US" sz="1347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Total Responses: 9</a:t>
            </a:r>
            <a:endParaRPr sz="134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1971</Words>
  <Application>Microsoft Office PowerPoint</Application>
  <PresentationFormat>On-screen Show (16:9)</PresentationFormat>
  <Paragraphs>400</Paragraphs>
  <Slides>19</Slides>
  <Notes>19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Georgia</vt:lpstr>
      <vt:lpstr>Consolas</vt:lpstr>
      <vt:lpstr>Old Standard TT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Samiksha Aveg</dc:creator>
  <cp:lastModifiedBy>Samiksha Aveg</cp:lastModifiedBy>
  <cp:revision>1</cp:revision>
  <dcterms:created xsi:type="dcterms:W3CDTF">2026-06-03T18:16:00Z</dcterms:created>
  <dcterms:modified xsi:type="dcterms:W3CDTF">2026-06-18T14:59:55Z</dcterms:modified>
</cp:coreProperties>
</file>